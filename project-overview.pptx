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916e11a044990" /><Relationship Type="http://schemas.openxmlformats.org/officeDocument/2006/relationships/extended-properties" Target="/docProps/app.xml" Id="R462c27612ae940ce" /><Relationship Type="http://schemas.openxmlformats.org/officeDocument/2006/relationships/officeDocument" Target="/ppt/presentation.xml" Id="Rd617bd104f6f4f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07405e4ce49bf"/>
  </p:sldMasterIdLst>
  <p:notesMasterIdLst>
    <p:notesMasterId xmlns:r="http://schemas.openxmlformats.org/officeDocument/2006/relationships" r:id="R00ae6aba425c44d5"/>
  </p:notesMasterIdLst>
  <p:sldIdLst>
    <p:sldId xmlns:r="http://schemas.openxmlformats.org/officeDocument/2006/relationships" id="256" r:id="R5896f30c37084f93"/>
    <p:sldId xmlns:r="http://schemas.openxmlformats.org/officeDocument/2006/relationships" id="257" r:id="R1c8911973b874187"/>
    <p:sldId xmlns:r="http://schemas.openxmlformats.org/officeDocument/2006/relationships" id="258" r:id="R7df68baeaea44606"/>
    <p:sldId xmlns:r="http://schemas.openxmlformats.org/officeDocument/2006/relationships" id="259" r:id="R11666ad20dd74f9b"/>
    <p:sldId xmlns:r="http://schemas.openxmlformats.org/officeDocument/2006/relationships" id="260" r:id="Rdb90c3643f7f4813"/>
    <p:sldId xmlns:r="http://schemas.openxmlformats.org/officeDocument/2006/relationships" id="261" r:id="R91a4b5ef47274c6f"/>
    <p:sldId xmlns:r="http://schemas.openxmlformats.org/officeDocument/2006/relationships" id="262" r:id="R460ca9a2e5944c15"/>
    <p:sldId xmlns:r="http://schemas.openxmlformats.org/officeDocument/2006/relationships" id="263" r:id="R4ebb1e709111462a"/>
    <p:sldId xmlns:r="http://schemas.openxmlformats.org/officeDocument/2006/relationships" id="264" r:id="Ra73a00dbcf4143ab"/>
    <p:sldId xmlns:r="http://schemas.openxmlformats.org/officeDocument/2006/relationships" id="265" r:id="Re57eed864bd54352"/>
    <p:sldId xmlns:r="http://schemas.openxmlformats.org/officeDocument/2006/relationships" id="266" r:id="R23f82165b2014867"/>
    <p:sldId xmlns:r="http://schemas.openxmlformats.org/officeDocument/2006/relationships" id="267" r:id="R77ed20e5789c4a30"/>
    <p:sldId xmlns:r="http://schemas.openxmlformats.org/officeDocument/2006/relationships" id="268" r:id="R2c692448c89f4e0d"/>
    <p:sldId xmlns:r="http://schemas.openxmlformats.org/officeDocument/2006/relationships" id="269" r:id="R76cbbdebdc66476d"/>
    <p:sldId xmlns:r="http://schemas.openxmlformats.org/officeDocument/2006/relationships" id="270" r:id="R472bc32b9a424654"/>
    <p:sldId xmlns:r="http://schemas.openxmlformats.org/officeDocument/2006/relationships" id="271" r:id="Rc00761b8d87643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d34dca21b24367" /><Relationship Type="http://schemas.openxmlformats.org/officeDocument/2006/relationships/slideMaster" Target="/ppt/slideMasters/slideMaster1.xml" Id="Rabd07405e4ce49bf" /><Relationship Type="http://schemas.openxmlformats.org/officeDocument/2006/relationships/notesMaster" Target="/ppt/notesMasters/notesMaster1.xml" Id="R00ae6aba425c44d5" /><Relationship Type="http://schemas.openxmlformats.org/officeDocument/2006/relationships/presProps" Target="/ppt/presProps.xml" Id="R191c31ebd3e94732" /><Relationship Type="http://schemas.openxmlformats.org/officeDocument/2006/relationships/tableStyles" Target="/ppt/tableStyles.xml" Id="R487847600eaa4b35" /><Relationship Type="http://schemas.openxmlformats.org/officeDocument/2006/relationships/slide" Target="/ppt/slides/slide1.xml" Id="R5896f30c37084f93" /><Relationship Type="http://schemas.openxmlformats.org/officeDocument/2006/relationships/slide" Target="/ppt/slides/slide2.xml" Id="R1c8911973b874187" /><Relationship Type="http://schemas.openxmlformats.org/officeDocument/2006/relationships/slide" Target="/ppt/slides/slide3.xml" Id="R7df68baeaea44606" /><Relationship Type="http://schemas.openxmlformats.org/officeDocument/2006/relationships/slide" Target="/ppt/slides/slide4.xml" Id="R11666ad20dd74f9b" /><Relationship Type="http://schemas.openxmlformats.org/officeDocument/2006/relationships/slide" Target="/ppt/slides/slide5.xml" Id="Rdb90c3643f7f4813" /><Relationship Type="http://schemas.openxmlformats.org/officeDocument/2006/relationships/slide" Target="/ppt/slides/slide6.xml" Id="R91a4b5ef47274c6f" /><Relationship Type="http://schemas.openxmlformats.org/officeDocument/2006/relationships/slide" Target="/ppt/slides/slide7.xml" Id="R460ca9a2e5944c15" /><Relationship Type="http://schemas.openxmlformats.org/officeDocument/2006/relationships/slide" Target="/ppt/slides/slide8.xml" Id="R4ebb1e709111462a" /><Relationship Type="http://schemas.openxmlformats.org/officeDocument/2006/relationships/slide" Target="/ppt/slides/slide9.xml" Id="Ra73a00dbcf4143ab" /><Relationship Type="http://schemas.openxmlformats.org/officeDocument/2006/relationships/slide" Target="/ppt/slides/slide10.xml" Id="Re57eed864bd54352" /><Relationship Type="http://schemas.openxmlformats.org/officeDocument/2006/relationships/slide" Target="/ppt/slides/slide11.xml" Id="R23f82165b2014867" /><Relationship Type="http://schemas.openxmlformats.org/officeDocument/2006/relationships/slide" Target="/ppt/slides/slide12.xml" Id="R77ed20e5789c4a30" /><Relationship Type="http://schemas.openxmlformats.org/officeDocument/2006/relationships/slide" Target="/ppt/slides/slide13.xml" Id="R2c692448c89f4e0d" /><Relationship Type="http://schemas.openxmlformats.org/officeDocument/2006/relationships/slide" Target="/ppt/slides/slide14.xml" Id="R76cbbdebdc66476d" /><Relationship Type="http://schemas.openxmlformats.org/officeDocument/2006/relationships/slide" Target="/ppt/slides/slide15.xml" Id="R472bc32b9a424654" /><Relationship Type="http://schemas.openxmlformats.org/officeDocument/2006/relationships/slide" Target="/ppt/slides/slide16.xml" Id="Rc00761b8d876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3dac61c9ec45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4a4586e5824070" /><Relationship Type="http://schemas.openxmlformats.org/officeDocument/2006/relationships/notesMaster" Target="/ppt/notesMasters/notesMaster1.xml" Id="Ra9d4c2b986a747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9e81fa76d4542" /><Relationship Type="http://schemas.openxmlformats.org/officeDocument/2006/relationships/notesMaster" Target="/ppt/notesMasters/notesMaster1.xml" Id="Ra10e42f34b4e42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b923c0917d44ae" /><Relationship Type="http://schemas.openxmlformats.org/officeDocument/2006/relationships/notesMaster" Target="/ppt/notesMasters/notesMaster1.xml" Id="R11c9d82d44ba49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b925440da1445e" /><Relationship Type="http://schemas.openxmlformats.org/officeDocument/2006/relationships/notesMaster" Target="/ppt/notesMasters/notesMaster1.xml" Id="R522e18fc0e4d43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c109bd2dff437a" /><Relationship Type="http://schemas.openxmlformats.org/officeDocument/2006/relationships/notesMaster" Target="/ppt/notesMasters/notesMaster1.xml" Id="R3d1ef346844342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b2810bf54042a3" /><Relationship Type="http://schemas.openxmlformats.org/officeDocument/2006/relationships/notesMaster" Target="/ppt/notesMasters/notesMaster1.xml" Id="R64d8d7cfdca74c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c2f0f60dde490b" /><Relationship Type="http://schemas.openxmlformats.org/officeDocument/2006/relationships/notesMaster" Target="/ppt/notesMasters/notesMaster1.xml" Id="R9d0afa84c3474a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ade13a3bd04bde" /><Relationship Type="http://schemas.openxmlformats.org/officeDocument/2006/relationships/notesMaster" Target="/ppt/notesMasters/notesMaster1.xml" Id="R313007ae88c54d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31bf353bac4b71" /><Relationship Type="http://schemas.openxmlformats.org/officeDocument/2006/relationships/notesMaster" Target="/ppt/notesMasters/notesMaster1.xml" Id="Re1e8348a2b5245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e7772a1dbc439a" /><Relationship Type="http://schemas.openxmlformats.org/officeDocument/2006/relationships/notesMaster" Target="/ppt/notesMasters/notesMaster1.xml" Id="Rac0211658cfb46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bb16852c7a4fdb" /><Relationship Type="http://schemas.openxmlformats.org/officeDocument/2006/relationships/notesMaster" Target="/ppt/notesMasters/notesMaster1.xml" Id="R857adbd6057448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cd96163e794550" /><Relationship Type="http://schemas.openxmlformats.org/officeDocument/2006/relationships/notesMaster" Target="/ppt/notesMasters/notesMaster1.xml" Id="R1fcbbd01c2b140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5a991d6c574097" /><Relationship Type="http://schemas.openxmlformats.org/officeDocument/2006/relationships/notesMaster" Target="/ppt/notesMasters/notesMaster1.xml" Id="Rf762ff4af80648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70deda11a74038" /><Relationship Type="http://schemas.openxmlformats.org/officeDocument/2006/relationships/notesMaster" Target="/ppt/notesMasters/notesMaster1.xml" Id="R9ec007d573c148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15a5b12c3547af" /><Relationship Type="http://schemas.openxmlformats.org/officeDocument/2006/relationships/notesMaster" Target="/ppt/notesMasters/notesMaster1.xml" Id="Ra4a9319efeeb42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f6b8a87655416a" /><Relationship Type="http://schemas.openxmlformats.org/officeDocument/2006/relationships/notesMaster" Target="/ppt/notesMasters/notesMaster1.xml" Id="R4f5db0c70a29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- UI/runs/run-20260901-184959-d47392/pipeline/eval.json</a:t>
            </a:r>
          </a:p>
          <a:p xmlns:a="http://schemas.openxmlformats.org/drawingml/2006/main">
            <a:r>
              <a:t>- UI/styles.css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UI/styles.css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src/agents/graph.py</a:t>
            </a:r>
          </a:p>
          <a:p xmlns:a="http://schemas.openxmlformats.org/drawingml/2006/main">
            <a:r>
              <a:t>- src/pipeline.py</a:t>
            </a:r>
          </a:p>
          <a:p xmlns:a="http://schemas.openxmlformats.org/drawingml/2006/main">
            <a:r>
              <a:t>- src/record_grouping.py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UI/runs/run-20260901-184959-d47392/id_05.pdf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- UI/runs/run-20260901-184959-d47392/ocr_extraction_full.csv</a:t>
            </a:r>
          </a:p>
          <a:p xmlns:a="http://schemas.openxmlformats.org/drawingml/2006/main">
            <a:r>
              <a:t>- tmp/pdfs/project-overview/source_pages/page_1.png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- UI/runs/run-20260901-184959-d47392/agent_space/train/ocr_extraction.csv</a:t>
            </a:r>
          </a:p>
          <a:p xmlns:a="http://schemas.openxmlformats.org/drawingml/2006/main">
            <a:r>
              <a:t>- UI/runs/run-20260901-184959-d47392/agent_space/test/ocr_extraction.csv</a:t>
            </a:r>
          </a:p>
          <a:p xmlns:a="http://schemas.openxmlformats.org/drawingml/2006/main">
            <a:r>
              <a:t>- UI/runs/run-20260901-184959-d47392/pipeline/train_eval/eval.json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UI/runs/run-20260901-184959-d47392/template.json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UI/runs/run-20260901-184959-d47392/agent_space/train/block_separation.json</a:t>
            </a:r>
          </a:p>
          <a:p xmlns:a="http://schemas.openxmlformats.org/drawingml/2006/main">
            <a:r>
              <a:t>- UI/runs/run-20260901-184959-d47392/artifacts/blocks/page_1_blocks.png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UI/runs/run-20260901-184959-d47392/artifacts/record_separation/page_1_records.png</a:t>
            </a:r>
          </a:p>
          <a:p xmlns:a="http://schemas.openxmlformats.org/drawingml/2006/main">
            <a:r>
              <a:t>- src/record_grouping.py</a:t>
            </a:r>
          </a:p>
          <a:p xmlns:a="http://schemas.openxmlformats.org/drawingml/2006/main">
            <a:r>
              <a:t>- UI/runs/run-20260901-184959-d47392/pipeline/eval.json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- UI/runs/run-20260901-184959-d47392/pipeline/extraction_scripts/0.py</a:t>
            </a:r>
          </a:p>
          <a:p xmlns:a="http://schemas.openxmlformats.org/drawingml/2006/main">
            <a:r>
              <a:t>- UI/runs/run-20260901-184959-d47392/pipeline/extraction_scripts/1.py</a:t>
            </a:r>
          </a:p>
          <a:p xmlns:a="http://schemas.openxmlformats.org/drawingml/2006/main">
            <a:r>
              <a:t>- UI/runs/run-20260901-184959-d47392/pipeline/extraction_scripts/2.py</a:t>
            </a:r>
          </a:p>
          <a:p xmlns:a="http://schemas.openxmlformats.org/drawingml/2006/main">
            <a:r>
              <a:t>- UI/runs/run-20260901-184959-d47392/pipeline/extraction_scripts/3.py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src/pipeline.py</a:t>
            </a:r>
          </a:p>
          <a:p xmlns:a="http://schemas.openxmlformats.org/drawingml/2006/main">
            <a:r>
              <a:t>- src/record_grouping.py</a:t>
            </a:r>
          </a:p>
          <a:p xmlns:a="http://schemas.openxmlformats.org/drawingml/2006/main">
            <a:r>
              <a:t>- UI/runs/run-20260901-184959-d47392/pipeline/requirements.txt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UI/runs/run-20260901-184959-d47392/pipeline/extracted.json</a:t>
            </a:r>
          </a:p>
          <a:p xmlns:a="http://schemas.openxmlformats.org/drawingml/2006/main">
            <a:r>
              <a:t>- UI/runs/run-20260901-184959-d47392/pipeline/grouped.json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UI/runs/run-20260901-184959-d47392/pipeline/eval.json</a:t>
            </a:r>
          </a:p>
          <a:p xmlns:a="http://schemas.openxmlformats.org/drawingml/2006/main">
            <a:r>
              <a:t>- UI/runs/run-20260901-184959-d47392/pipeline/train_eval/eval.json</a:t>
            </a:r>
          </a:p>
          <a:p xmlns:a="http://schemas.openxmlformats.org/drawingml/2006/main">
            <a:r>
              <a:t>- src/eval/score.py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UI/runs/run-20260901-184959-d47392/pipeline/eval.txt</a:t>
            </a:r>
          </a:p>
          <a:p xmlns:a="http://schemas.openxmlformats.org/drawingml/2006/main">
            <a:r>
              <a:t>- UI/runs/run-20260901-184959-d47392/pipeline/eval.json</a:t>
            </a:r>
          </a:p>
          <a:p xmlns:a="http://schemas.openxmlformats.org/drawingml/2006/main">
            <a:r>
              <a:t>- src/agents/train_repair.py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- UI/runs/run-20260901-184959-d47392/metadata/cost.json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UI/runs/run-20260901-184959-d47392/metadata.json</a:t>
            </a:r>
          </a:p>
          <a:p xmlns:a="http://schemas.openxmlformats.org/drawingml/2006/main">
            <a:r>
              <a:t>- UI/runs/run-20260901-184959-d47392/pipeline/eval.json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4318772c0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c6d405b3474a76" /><Relationship Type="http://schemas.openxmlformats.org/officeDocument/2006/relationships/slideLayout" Target="/ppt/slideLayouts/slideLayout1.xml" Id="R7c1d14cf89ec4e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1d14cf89ec4e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0c72127b147b0" /><Relationship Type="http://schemas.openxmlformats.org/officeDocument/2006/relationships/notesSlide" Target="/ppt/notesSlides/notesSlide1.xml" Id="R86ad0f6754b240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6e5ae880d446e" /><Relationship Type="http://schemas.openxmlformats.org/officeDocument/2006/relationships/notesSlide" Target="/ppt/notesSlides/notesSlide2.xml" Id="R7d43072d14a84a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30dee7ee84167" /><Relationship Type="http://schemas.openxmlformats.org/officeDocument/2006/relationships/notesSlide" Target="/ppt/notesSlides/notesSlide3.xml" Id="R0085f3a821e3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0e7135c344322" /><Relationship Type="http://schemas.openxmlformats.org/officeDocument/2006/relationships/image" Target="/ppt/media/image.png" Id="Rf709da7df5714185" /><Relationship Type="http://schemas.openxmlformats.org/officeDocument/2006/relationships/notesSlide" Target="/ppt/notesSlides/notesSlide4.xml" Id="Rcf4f0b0f83cf42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02b1c49cf49b4" /><Relationship Type="http://schemas.openxmlformats.org/officeDocument/2006/relationships/notesSlide" Target="/ppt/notesSlides/notesSlide5.xml" Id="R71b6913d1901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213d439f54330" /><Relationship Type="http://schemas.openxmlformats.org/officeDocument/2006/relationships/notesSlide" Target="/ppt/notesSlides/notesSlide6.xml" Id="Rf37d1930b50b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e928121134029" /><Relationship Type="http://schemas.openxmlformats.org/officeDocument/2006/relationships/image" Target="/ppt/media/image2.png" Id="Rebd351700ce94d4c" /><Relationship Type="http://schemas.openxmlformats.org/officeDocument/2006/relationships/notesSlide" Target="/ppt/notesSlides/notesSlide7.xml" Id="Re7295088177c42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b0536a78b488c" /><Relationship Type="http://schemas.openxmlformats.org/officeDocument/2006/relationships/image" Target="/ppt/media/image3.png" Id="R6f9cddc680b94f8d" /><Relationship Type="http://schemas.openxmlformats.org/officeDocument/2006/relationships/notesSlide" Target="/ppt/notesSlides/notesSlide8.xml" Id="R78e7ab8611d04d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ca22f605b48c8" /><Relationship Type="http://schemas.openxmlformats.org/officeDocument/2006/relationships/notesSlide" Target="/ppt/notesSlides/notesSlide9.xml" Id="R0d7453bbd4334c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39d0006fb4e5f" /><Relationship Type="http://schemas.openxmlformats.org/officeDocument/2006/relationships/notesSlide" Target="/ppt/notesSlides/notesSlide10.xml" Id="R7cbed13c326d4b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82d2f0b754a1f" /><Relationship Type="http://schemas.openxmlformats.org/officeDocument/2006/relationships/notesSlide" Target="/ppt/notesSlides/notesSlide11.xml" Id="R9a4d25de83fc4d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32ac45f004090" /><Relationship Type="http://schemas.openxmlformats.org/officeDocument/2006/relationships/notesSlide" Target="/ppt/notesSlides/notesSlide12.xml" Id="R527ff23c87e045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6c50fd5e1430c" /><Relationship Type="http://schemas.openxmlformats.org/officeDocument/2006/relationships/notesSlide" Target="/ppt/notesSlides/notesSlide13.xml" Id="R27a927394a1a40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17183e7184b59" /><Relationship Type="http://schemas.openxmlformats.org/officeDocument/2006/relationships/notesSlide" Target="/ppt/notesSlides/notesSlide14.xml" Id="R8b01112760c540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50e9f825049ac" /><Relationship Type="http://schemas.openxmlformats.org/officeDocument/2006/relationships/notesSlide" Target="/ppt/notesSlides/notesSlide15.xml" Id="R30d435e800a942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7bcf4ebfe4f21" /><Relationship Type="http://schemas.openxmlformats.org/officeDocument/2006/relationships/notesSlide" Target="/ppt/notesSlides/notesSlide16.xml" Id="R432e86b99d85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eft-rail">
            <a:extLst xmlns:a="http://schemas.openxmlformats.org/drawingml/2006/main">
              <a:ext uri="{FF2B5EF4-FFF2-40B4-BE49-F238E27FC236}">
                <a16:creationId xmlns:a16="http://schemas.microsoft.com/office/drawing/2014/main" id="{126824BC-AB05-4615-9C56-B7C75C95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A26C5-2E59-4452-AF79-8723EE44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DFEB1-6E69-49A6-8B4C-D41A37D5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FF3D5-3010-4645-A078-8EA2B0E3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116AA-AAAB-4948-A6BD-B9197EC4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D5595-CF9F-4E6E-BAF7-52BE14C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D49D0-EDB0-4E6F-830C-445B5A5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F705F"/>
                </a:solidFill>
              </a:defRPr>
            </a:pPr>
            <a:r>
              <a:rPr sz="975" b="0" i="0">
                <a:solidFill>
                  <a:srgbClr val="3F705F"/>
                </a:solidFill>
              </a:rPr>
              <a:t>THESIS RESEARCH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46CB5-6F95-4C79-9CD9-F99972D6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95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52B28"/>
                </a:solidFill>
              </a:defRPr>
            </a:pPr>
            <a:r>
              <a:rPr sz="4350" b="1" i="0">
                <a:solidFill>
                  <a:srgbClr val="252B28"/>
                </a:solidFill>
              </a:rPr>
              <a:t>Compile once.</a:t>
            </a:r>
          </a:p>
          <a:p xmlns:a="http://schemas.openxmlformats.org/drawingml/2006/main">
            <a:pPr algn="l">
              <a:defRPr sz="4350" b="1" i="0">
                <a:solidFill>
                  <a:srgbClr val="252B28"/>
                </a:solidFill>
              </a:defRPr>
            </a:pPr>
            <a:r>
              <a:rPr sz="4350" b="1" i="0">
                <a:solidFill>
                  <a:srgbClr val="252B28"/>
                </a:solidFill>
              </a:rPr>
              <a:t>Extract indefinitely.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ACA28-12EB-4739-ABB8-697D428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35D02-3AC7-41E5-AF9E-3B166CD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66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F6862"/>
                </a:solidFill>
              </a:defRPr>
            </a:pPr>
            <a:r>
              <a:rPr sz="1725" b="0" i="0">
                <a:solidFill>
                  <a:srgbClr val="5F6862"/>
                </a:solidFill>
              </a:rPr>
              <a:t>TWIX 2 learns a reusable structured-data extractor from a small sample of a template-based PDF family, then ships ordinary Python code for every later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1CA50-0E76-49EF-BFDE-84731B04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57300"/>
            <a:ext cx="2857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E300B-51D2-4003-8D7A-5609191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62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DB6AA"/>
                </a:solidFill>
              </a:defRPr>
            </a:pPr>
            <a:r>
              <a:rPr sz="900" b="0" i="0">
                <a:solidFill>
                  <a:srgbClr val="9DB6AA"/>
                </a:solidFill>
              </a:rPr>
              <a:t>ID_05 CASE STUDY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961E2-A207-472C-9C1F-7D99CFB3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95.5%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9ACA6-239B-432A-9870-248A160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E8EEE9"/>
                </a:solidFill>
              </a:defRPr>
            </a:pPr>
            <a:r>
              <a:rPr sz="900" b="0" i="0">
                <a:solidFill>
                  <a:srgbClr val="E8EEE9"/>
                </a:solidFill>
              </a:rPr>
              <a:t>HELD-OUT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0B62A-FF09-4E5D-B27F-85622AA6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34D"/>
          </a:solidFill>
          <a:ln xmlns:a="http://schemas.openxmlformats.org/drawingml/2006/main" w="0">
            <a:solidFill>
              <a:srgbClr val="46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BDB0F-0B72-45F1-8E5F-CDF8B8F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15 test pages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56 matched records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224 physical blocks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0 runtime model calls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0DD43-CDFC-4D12-91CF-9CD1FECC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98446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eft-rail">
            <a:extLst xmlns:a="http://schemas.openxmlformats.org/drawingml/2006/main">
              <a:ext uri="{FF2B5EF4-FFF2-40B4-BE49-F238E27FC236}">
                <a16:creationId xmlns:a16="http://schemas.microsoft.com/office/drawing/2014/main" id="{2254EA79-A597-49FD-9408-4E9499B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F030-669C-4FBB-8CA3-302538EB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A70B6-7994-4991-8B5E-9F0C97B8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49060-B174-494F-9628-4CA5B856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F4F39-F64D-43E4-9663-BA7C8308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RESEARCH PREMISE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012D6-E47D-4882-B3B3-23FD2E4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941CE-F708-4B28-B3C2-25D2593C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01 / WHY THIS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CC7F5-B6D7-4AC5-A0C0-72FE74F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The problem is not one page - it is the repeated model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0215D-BE0A-4354-9172-419A332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A frontier model can parse a page well. The operational cost still grows every time another page is sent.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69AFF-A593-4C5E-8CF3-41D73B0D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762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05031-634D-4A87-B796-9C5BF7B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4953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F5387-DF84-49BF-AD33-530187B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4F43"/>
                </a:solidFill>
              </a:defRPr>
            </a:pPr>
            <a:r>
              <a:rPr sz="900" b="0" i="0">
                <a:solidFill>
                  <a:srgbClr val="A94F43"/>
                </a:solidFill>
              </a:rPr>
              <a:t>CONVENTIONAL MODEL-PER-PAGE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832EF-F4D3-433C-B843-8BE1E204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575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LLM / API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D2774-9573-468E-BAD9-0569D60E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86125"/>
            <a:ext cx="190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8BF0B-A2B0-4702-A12B-612B497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25C12-A328-4EC9-85C1-EE13F63A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04950" y="3362325"/>
            <a:ext cx="3371850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4F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DD531-B181-4187-95A7-1FE458C1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76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B351A-E4B9-4AFB-98A8-3BA9F2B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2190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solidFill>
              <a:srgbClr val="FBF8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CC42A-A04E-47B3-BF41-C8CAE9B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623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94F43"/>
                </a:solidFill>
              </a:defRPr>
            </a:pPr>
            <a:r>
              <a:rPr sz="1125" b="1" i="0">
                <a:solidFill>
                  <a:srgbClr val="A94F43"/>
                </a:solidFill>
              </a:rPr>
              <a:t>cost grows with every page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2D015-85E6-48AD-B09E-5C6584BF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pages processed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1F304-55F2-4623-AE5D-0645777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TWIX 2 COMPILE-ONCE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3C1E7-0C83-42E8-AFB9-1E7F7351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75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LLM / API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F75E0-E5F4-4B98-ACA9-3BD03D01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190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0999E-9550-4CFE-B036-48B61A59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073B7-B854-45DA-B451-BFE6D30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48450" y="3333750"/>
            <a:ext cx="51435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70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2C3D6-8FC1-45E9-A4BE-EAF83E49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62800" y="33337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7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E8BE2-894A-4059-981E-15C5112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CB6DE-6A05-4BBE-A73B-4098933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F705F"/>
                </a:solidFill>
              </a:defRPr>
            </a:pPr>
            <a:r>
              <a:rPr sz="1125" b="1" i="0">
                <a:solidFill>
                  <a:srgbClr val="3F705F"/>
                </a:solidFill>
              </a:rPr>
              <a:t>no further model calls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20C3A-40A2-44E2-87DB-23AF44EC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1666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pages processed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F1ED8A-E3E7-4212-B695-964E567E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9525">
            <a:solidFill>
              <a:srgbClr val="3F70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DD4F5-6582-432C-833B-B21AFB20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963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84E40"/>
                </a:solidFill>
              </a:defRPr>
            </a:pPr>
            <a:r>
              <a:rPr sz="1425" b="1" i="0">
                <a:solidFill>
                  <a:srgbClr val="284E40"/>
                </a:solidFill>
              </a:rPr>
              <a:t>The hypothesis: structure turns a broad reasoning task into smaller code-generation tasks that cheaper - and potentially local - models can solve.</a:t>
            </a:r>
          </a:p>
        </p:txBody>
      </p:sp>
    </p:spTree>
    <p:extLst>
      <p:ext uri="{BB962C8B-B14F-4D97-AF65-F5344CB8AC3E}">
        <p14:creationId xmlns:p14="http://schemas.microsoft.com/office/powerpoint/2010/main" val="1826244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left-rail">
            <a:extLst xmlns:a="http://schemas.openxmlformats.org/drawingml/2006/main">
              <a:ext uri="{FF2B5EF4-FFF2-40B4-BE49-F238E27FC236}">
                <a16:creationId xmlns:a16="http://schemas.microsoft.com/office/drawing/2014/main" id="{5C9F28B1-C469-40AE-82F7-FA8C7471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C3C5A-90B9-47F9-BFAD-E068ED1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5E526-232F-4CD5-BB90-9683D98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7FC0C-F45D-4A49-8DA1-9363649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3F972-6BA7-4748-BF90-3B6A2336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36BB9-B3C7-49FA-A31A-891C791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EA995-E893-4EB1-85B1-D4FA98E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02 / END-TO-END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069FA-4B0D-4457-BD05-6D7AAD7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Models compile the extractor; ordinary Python runs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5822B-B837-452E-821D-225E356E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Learning happens once; extraction becomes a repeatable, model-free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9321E-2F86-4FDE-BC4C-A143BEA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ONE-TIME COMPILATION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B41A4-C145-4342-925C-2EC17A3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861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B2EBB-FFCC-4059-BE58-609AEB95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861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FF1AE-3A23-40FE-8983-2BF9991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56997-1DD6-4AF6-BE76-2C9C5AC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86100"/>
            <a:ext cx="2762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AAA80-0C80-4202-8719-B951AC62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924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F1104-48C5-4B3E-A26D-B73B446E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361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361B8-920F-4749-AC20-3DE55E5C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AA878-D56A-47A6-93EF-9680334B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Detect + split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4CD1A-7814-4965-B058-4F29F04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38475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Find content start; create train and test OCR.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419DB-96DF-4F1A-A45E-620B4B5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09850"/>
            <a:ext cx="1924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8E48C-9A06-40E3-916F-5AD83A13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09850"/>
            <a:ext cx="361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F8D13-DCE8-4260-A06F-50A1C81E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FAECE-C92A-4257-905C-9AA6A6F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24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Infer template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60A08-2F3A-495B-B960-63BB9BB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38475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Define node ids, fields and metadata patterns.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956EC-3BAA-425F-918D-FECA256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1924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12C3A-548E-4A03-ABC2-FB2F85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361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76CEC-D040-420F-99A2-4F800DD2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EB413-441F-41F5-B62A-1B2B2C09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Write 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95BFD-7204-4B9A-8B35-1000FCBD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38475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Generate separator and one extractor per node.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D19E3-3D56-4131-B593-0DEE1AC3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09850"/>
            <a:ext cx="1924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0EA6A-EE96-483E-A77C-C2C203C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09850"/>
            <a:ext cx="361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2BA200-EC2C-4D66-B5CC-7889B831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7CFAC2-E692-4EE3-B213-B56D8EE4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Train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BDB7B3-92DB-41CF-B79C-03186CA8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38475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Evaluate all train pages; repair if needed.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32BBF9-6F50-4CBE-BAB3-0C991981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9240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96232-CE2D-44ED-9A5F-58A23CA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361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1ED42C-D042-4578-A9FA-5F4A9FD6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932836-CE02-4EA7-9CAB-545B1002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Package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B40DAC-9101-407C-B127-578F702D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38475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Copy model-free code into pipeline/.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EC7165-2F91-40F2-9459-22B6E2A9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2E702-3C71-43B7-B5E6-BB29F712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REPEATED RUNTIME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A4E04D-BF2D-4C3E-948D-7BDB9BB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1495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7A7A41-4854-41E1-BB35-3EB97C9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1495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403CC6-CA3D-45B2-87D4-3C9449A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571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22D444-7336-41E8-84F2-4C1928B0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37C335-0281-40E5-850A-B64E46D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244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28"/>
                </a:solidFill>
              </a:defRPr>
            </a:pPr>
            <a:r>
              <a:rPr sz="1425" b="1" i="0">
                <a:solidFill>
                  <a:srgbClr val="252B28"/>
                </a:solidFill>
              </a:rPr>
              <a:t>PDF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563AE9-3639-4966-B047-9791822A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768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same family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A64EB2-22FC-4655-9EA3-43DCAEB2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DEB564-7A09-43A6-B56D-9D770DFC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244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28"/>
                </a:solidFill>
              </a:defRPr>
            </a:pPr>
            <a:r>
              <a:rPr sz="1425" b="1" i="0">
                <a:solidFill>
                  <a:srgbClr val="252B28"/>
                </a:solidFill>
              </a:rPr>
              <a:t>OCR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6BA9B9-5F04-4443-AFCF-6F027734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768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words + geometry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F12A4C-29B3-4725-A019-E166D253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C1B151-E630-40E0-AE1B-F915AF2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244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28"/>
                </a:solidFill>
              </a:defRPr>
            </a:pPr>
            <a:r>
              <a:rPr sz="1425" b="1" i="0">
                <a:solidFill>
                  <a:srgbClr val="252B28"/>
                </a:solidFill>
              </a:rPr>
              <a:t>Code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1E5E84-979B-46CE-B6E3-1D3EDEB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768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generated scripts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D1679B-291F-44BA-B9F0-53C2D75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BC0CA0-BA47-44B6-9588-3B00A304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244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2B28"/>
                </a:solidFill>
              </a:defRPr>
            </a:pPr>
            <a:r>
              <a:rPr sz="1425" b="1" i="0">
                <a:solidFill>
                  <a:srgbClr val="252B28"/>
                </a:solidFill>
              </a:rPr>
              <a:t>Extracted data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A3040C-C37C-4FD8-9F49-3316F5F2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7687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logical records</a:t>
            </a:r>
          </a:p>
        </p:txBody>
      </p:sp>
    </p:spTree>
    <p:extLst>
      <p:ext uri="{BB962C8B-B14F-4D97-AF65-F5344CB8AC3E}">
        <p14:creationId xmlns:p14="http://schemas.microsoft.com/office/powerpoint/2010/main" val="1981503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eft-rail">
            <a:extLst xmlns:a="http://schemas.openxmlformats.org/drawingml/2006/main">
              <a:ext uri="{FF2B5EF4-FFF2-40B4-BE49-F238E27FC236}">
                <a16:creationId xmlns:a16="http://schemas.microsoft.com/office/drawing/2014/main" id="{39735D3C-260F-4A28-AE95-26DFE12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10322-994E-45F1-ACD2-01B86CA9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3153B-B088-41EA-8AA2-905C0F53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7C61E-A93F-49AB-88C3-B884D7AF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8AA8E-DE62-40B2-AB2F-68722518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CASE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ACC87-964C-42FA-8AB6-C25255DA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736E4-A3F4-4A7C-9E02-6888439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03 / ID_05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51595-26FB-4C27-ABD5-C814D0F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A 20-page sample contains a stable four-block record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57542-1640-41CC-9212-E3D95C8B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The report repeats complaint summaries, complainant details, complaint rows and officer rows.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90CA7-14D8-423F-B745-300C32A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6858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9da7df5714185"/>
          <a:stretch xmlns:a="http://schemas.openxmlformats.org/drawingml/2006/main"/>
        </p:blipFill>
        <p:spPr>
          <a:xfrm xmlns:a="http://schemas.openxmlformats.org/drawingml/2006/main">
            <a:off x="1588994" y="2247900"/>
            <a:ext cx="4708712" cy="3638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9F112-961D-4B4F-88F7-95C4A26D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67B49-E29A-4AB4-AD24-563A14A6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F705F"/>
                </a:solidFill>
              </a:defRPr>
            </a:pPr>
            <a:r>
              <a:rPr sz="2550" b="1" i="0">
                <a:solidFill>
                  <a:srgbClr val="3F705F"/>
                </a:solidFill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E06F5-5BDD-40AB-8F83-A41CB41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SOURCE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C13D6-D4EE-4230-A7F9-5C015D12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5 train + 15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46C84-C73F-42CD-BC52-12E1913E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3DB8C-77CE-4630-A41B-014784F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84E40"/>
                </a:solidFill>
              </a:defRPr>
            </a:pPr>
            <a:r>
              <a:rPr sz="2550" b="1" i="0">
                <a:solidFill>
                  <a:srgbClr val="284E40"/>
                </a:solidFill>
              </a:rPr>
              <a:t>7,270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89134-F9E3-4971-B134-5793516B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OCR WORDS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BC706-57F5-4845-B4C7-DC686F7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04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global ids + 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8A292-021C-4098-8D5C-7C1EA8BF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B32"/>
          </a:solidFill>
          <a:ln xmlns:a="http://schemas.openxmlformats.org/drawingml/2006/main" w="0">
            <a:solidFill>
              <a:srgbClr val="B57B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9C53F-AEE5-47B0-A2D2-52276C44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B57B32"/>
                </a:solidFill>
              </a:defRPr>
            </a:pPr>
            <a:r>
              <a:rPr sz="2550" b="1" i="0">
                <a:solidFill>
                  <a:srgbClr val="B57B32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931A2-E6FC-43DB-AC68-425194C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TEMPLATE NODES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EAD17-4B88-4559-B077-DDE3E5F6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3 tables + 1 KV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673FF-17B3-404E-AAC6-E3C8163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1C5E3-5E01-43E3-8816-3D1CB74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94F43"/>
                </a:solidFill>
              </a:defRPr>
            </a:pPr>
            <a:r>
              <a:rPr sz="2550" b="1" i="0">
                <a:solidFill>
                  <a:srgbClr val="A94F43"/>
                </a:solidFill>
              </a:rPr>
              <a:t>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78443-45F7-48EC-B2EE-DE2C256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TEST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D8E30-3E7B-44C8-8549-3ECE940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958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after deterministic grouping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F332A-223D-4E12-BC66-2FEA30CA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Source redactions are preserved in every visual.</a:t>
            </a:r>
          </a:p>
        </p:txBody>
      </p:sp>
    </p:spTree>
    <p:extLst>
      <p:ext uri="{BB962C8B-B14F-4D97-AF65-F5344CB8AC3E}">
        <p14:creationId xmlns:p14="http://schemas.microsoft.com/office/powerpoint/2010/main" val="28949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left-rail">
            <a:extLst xmlns:a="http://schemas.openxmlformats.org/drawingml/2006/main">
              <a:ext uri="{FF2B5EF4-FFF2-40B4-BE49-F238E27FC236}">
                <a16:creationId xmlns:a16="http://schemas.microsoft.com/office/drawing/2014/main" id="{15692643-264C-4415-9ABA-969AC19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3273E-226F-4E8A-ABC5-1679D4C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A6A09-F188-47B2-8090-FC3F8D80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A48F2-5D3E-4AEC-9CFF-854CCEE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7AB68-4580-411A-B703-D6E4C2C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CASE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93DD0-4BCD-4BDB-BE53-5FA4267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8DFD-CD57-4AE7-BE73-0BEA6ADA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04 / INDEPENDENT EVALUATION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A1B73-7E5A-4110-8C7F-E7494EF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Five pages compile the extractor; fifteen pages test 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C28BB-E521-4E71-A625-DF9F5E36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This run uses all five training pages for code generation, then evaluates the frozen bundle on fifteen independent pages.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4003F-F98D-49CE-9C77-4C37B09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895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FA334-75D7-4D98-BC56-D0A53D6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05150"/>
            <a:ext cx="895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AD065-5CF5-44D6-A1A8-F2A97CF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928C"/>
          </a:solidFill>
          <a:ln xmlns:a="http://schemas.openxmlformats.org/drawingml/2006/main" w="0">
            <a:solidFill>
              <a:srgbClr val="8B92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D9AEE-684E-4EF4-A3CF-CB939D8C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466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B1680-31F4-42F3-B6D6-8B1AC0E4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895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52B28"/>
                </a:solidFill>
              </a:defRPr>
            </a:pPr>
            <a:r>
              <a:rPr sz="3450" b="1" i="0">
                <a:solidFill>
                  <a:srgbClr val="252B28"/>
                </a:solidFill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07FB0-2B2A-4FB1-B3F5-239C87FD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SOURCE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1BF4A-C0F5-453C-AB2F-EAA2D575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2819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4BFFF-6DD4-4938-9D8D-1D6DE0F6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527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84E40"/>
                </a:solidFill>
              </a:defRPr>
            </a:pPr>
            <a:r>
              <a:rPr sz="975" b="0" i="0">
                <a:solidFill>
                  <a:srgbClr val="284E40"/>
                </a:solidFill>
              </a:rPr>
              <a:t>5 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A3D23-BFE9-4428-B4CA-162B8EC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2895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58152-8FBE-4AF6-95A9-26182FF8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52B28"/>
                </a:solidFill>
              </a:defRPr>
            </a:pPr>
            <a:r>
              <a:rPr sz="2550" b="1" i="0">
                <a:solidFill>
                  <a:srgbClr val="252B28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2A446-7400-4619-BAE5-7074BF73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04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BUILD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C129D-9D59-4D9C-8D2E-BCA5678F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24193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44F71-4E65-4486-93F1-04946E0E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52B28"/>
                </a:solidFill>
              </a:defRPr>
            </a:pPr>
            <a:r>
              <a:rPr sz="3450" b="1" i="0">
                <a:solidFill>
                  <a:srgbClr val="252B28"/>
                </a:solidFill>
              </a:rPr>
              <a:t>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3ABB4-DC30-4CD2-801A-F37F41B6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INDEPENDENT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66517-3B0A-4A37-933E-043AD692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00582-763F-4D60-900D-5D9754A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336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9DB6AA"/>
                </a:solidFill>
              </a:defRPr>
            </a:pPr>
            <a:r>
              <a:rPr sz="900" b="0" i="0">
                <a:solidFill>
                  <a:srgbClr val="9DB6AA"/>
                </a:solidFill>
              </a:rPr>
              <a:t>FROZEN BUNDLE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312C7-3523-471D-955C-BC2511F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95.5%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742BD-964D-4B69-9213-2773C99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held-out accuracy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BA866-2B73-4A55-85CB-AAFA3DD4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2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5AD6A-D47D-4146-B75B-E058F53F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3CFC4-2CC1-4D47-AE7D-D9496D2E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2B28"/>
                </a:solidFill>
              </a:defRPr>
            </a:pPr>
            <a:r>
              <a:rPr sz="1650" b="1" i="0">
                <a:solidFill>
                  <a:srgbClr val="252B28"/>
                </a:solidFill>
              </a:rPr>
              <a:t>The bundle is generated once from five training pages, then evaluated without changing its code on fifteen independent pages.</a:t>
            </a:r>
          </a:p>
        </p:txBody>
      </p:sp>
    </p:spTree>
    <p:extLst>
      <p:ext uri="{BB962C8B-B14F-4D97-AF65-F5344CB8AC3E}">
        <p14:creationId xmlns:p14="http://schemas.microsoft.com/office/powerpoint/2010/main" val="752222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left-rail">
            <a:extLst xmlns:a="http://schemas.openxmlformats.org/drawingml/2006/main">
              <a:ext uri="{FF2B5EF4-FFF2-40B4-BE49-F238E27FC236}">
                <a16:creationId xmlns:a16="http://schemas.microsoft.com/office/drawing/2014/main" id="{9722F473-F8CC-4B2D-B55A-069853F4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1B0B5-27C3-40F1-BF15-E6B4C80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15D1C-10B7-45E3-AA46-A1B344C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21604-948C-4607-BC77-ED1D3C3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3BF41-A74D-4F20-8EEA-212D2C6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DEDED-5408-429F-A658-346EE17E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7DBDD-458D-4B10-90BE-E3877835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05 / TEMPLATE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1CB92-2180-40F1-9A04-A330E453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Four node ids define every lookup, block and extractor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A3D8D-8A1E-4A89-A7DE-E19E718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Field names describe semantics; bid describes visual position; metadata regexes distinguish repeated page furniture from record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A169B-F995-420E-9EDD-7CFD58FB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4000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44315-9B14-4D3A-9AFE-43DF2023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657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{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"node_id": 2,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"type": "table",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"fields": [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  "Type Of Complaint",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  "Description",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  "Complaint Disposition"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],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"bid": [2],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"complexity": {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  "same_row_structure": true,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  "nested": false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  }</a:t>
            </a:r>
          </a:p>
          <a:p xmlns:a="http://schemas.openxmlformats.org/drawingml/2006/main">
            <a:pPr algn="l">
              <a:defRPr sz="1200" b="0" i="0">
                <a:solidFill>
                  <a:srgbClr val="E8EEE9"/>
                </a:solidFill>
              </a:defRPr>
            </a:pPr>
            <a:r>
              <a:rPr sz="1200" b="0" i="0">
                <a:solidFill>
                  <a:srgbClr val="E8EEE9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1C395-F0C2-4A91-8AE5-81558E91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6229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5FFFE-1364-4F52-95F9-FBA09E79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384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EEE9"/>
                </a:solidFill>
              </a:defRPr>
            </a:pPr>
            <a:r>
              <a:rPr sz="825" b="0" i="0">
                <a:solidFill>
                  <a:srgbClr val="E8EEE9"/>
                </a:solidFill>
              </a:rPr>
              <a:t>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A13C1-904A-44E4-9A08-E8F9FDF1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384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EEE9"/>
                </a:solidFill>
              </a:defRPr>
            </a:pPr>
            <a:r>
              <a:rPr sz="825" b="0" i="0">
                <a:solidFill>
                  <a:srgbClr val="E8EEE9"/>
                </a:solidFill>
              </a:rPr>
              <a:t>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FC0FA-0578-451E-BDE4-6531F35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384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EEE9"/>
                </a:solidFill>
              </a:defRPr>
            </a:pPr>
            <a:r>
              <a:rPr sz="825" b="0" i="0">
                <a:solidFill>
                  <a:srgbClr val="E8EEE9"/>
                </a:solidFill>
              </a:rPr>
              <a:t>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2219D-7E50-41FB-92A0-C8FC716D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8EEE9"/>
                </a:solidFill>
              </a:defRPr>
            </a:pPr>
            <a:r>
              <a:rPr sz="825" b="0" i="0">
                <a:solidFill>
                  <a:srgbClr val="E8EEE9"/>
                </a:solidFill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71557-3281-449A-B8FE-66ADE3B4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6229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93CF3-B583-47FE-A8F8-58B672A9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71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69FDC-85D1-4ADC-891E-9FBE185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35F85-4985-4BD1-AA85-E8AC1827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71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B928C"/>
                </a:solidFill>
              </a:defRPr>
            </a:pPr>
            <a:r>
              <a:rPr sz="1050" b="0" i="0">
                <a:solidFill>
                  <a:srgbClr val="8B928C"/>
                </a:solidFill>
              </a:rPr>
              <a:t>10 fields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044A6-C075-4923-834E-1498CBD5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Complaint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E96B4-DF3A-499F-BF27-750C55C5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9950"/>
            <a:ext cx="6229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6A767-FA58-4953-9367-67E3049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00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AA7B2-7C90-4C61-90D5-2A7E7CE3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key-value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83FD3-0ED7-48D2-BBD5-5B241FCD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0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B928C"/>
                </a:solidFill>
              </a:defRPr>
            </a:pPr>
            <a:r>
              <a:rPr sz="1050" b="0" i="0">
                <a:solidFill>
                  <a:srgbClr val="8B928C"/>
                </a:solidFill>
              </a:rPr>
              <a:t>5 fields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969C7-9F77-40AD-8098-43CBB9C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Complainant details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63198-D15C-4E0E-A417-F0464DA3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6229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7424B-9E4B-402E-B0ED-C8CA192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2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6DB945-65F8-4014-8086-12DFB73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8FBF5-EFCB-488C-9B37-1BC06035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B928C"/>
                </a:solidFill>
              </a:defRPr>
            </a:pPr>
            <a:r>
              <a:rPr sz="1050" b="0" i="0">
                <a:solidFill>
                  <a:srgbClr val="8B928C"/>
                </a:solidFill>
              </a:rPr>
              <a:t>3 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A1C65-7298-407E-B739-F28D7B2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Complaint rows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80775-B261-49B4-A611-5282E2A6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6229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368A9C-0964-4054-B9AE-7C5C3AD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57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6778DE-F793-4263-9243-36D1481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57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2B28"/>
                </a:solidFill>
              </a:defRPr>
            </a:pPr>
            <a:r>
              <a:rPr sz="1200" b="1" i="0">
                <a:solidFill>
                  <a:srgbClr val="252B28"/>
                </a:solidFill>
              </a:rPr>
              <a:t>table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485B2-65B6-4D8E-92B3-4874C41D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57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B928C"/>
                </a:solidFill>
              </a:defRPr>
            </a:pPr>
            <a:r>
              <a:rPr sz="1050" b="0" i="0">
                <a:solidFill>
                  <a:srgbClr val="8B928C"/>
                </a:solidFill>
              </a:rPr>
              <a:t>7 fields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C1905A-E095-4379-BD8E-0D7C49D8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57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Officer rows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DB4DE-CB36-41B8-88A8-2C580397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57825"/>
            <a:ext cx="6229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9525">
            <a:solidFill>
              <a:srgbClr val="3F70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89C065-56A5-4028-A2B1-63A231E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72125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84E40"/>
                </a:solidFill>
              </a:defRPr>
            </a:pPr>
            <a:r>
              <a:rPr sz="975" b="0" i="0">
                <a:solidFill>
                  <a:srgbClr val="284E40"/>
                </a:solidFill>
              </a:rPr>
              <a:t>9 metadata regexes: 7 document-level + 2 record-level</a:t>
            </a:r>
          </a:p>
        </p:txBody>
      </p:sp>
    </p:spTree>
    <p:extLst>
      <p:ext uri="{BB962C8B-B14F-4D97-AF65-F5344CB8AC3E}">
        <p14:creationId xmlns:p14="http://schemas.microsoft.com/office/powerpoint/2010/main" val="300022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eft-rail">
            <a:extLst xmlns:a="http://schemas.openxmlformats.org/drawingml/2006/main">
              <a:ext uri="{FF2B5EF4-FFF2-40B4-BE49-F238E27FC236}">
                <a16:creationId xmlns:a16="http://schemas.microsoft.com/office/drawing/2014/main" id="{2B767E23-9070-4655-8CBF-FE9EB33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A2C4B-D2FE-4FF4-ACC4-7B6ED13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DF360-CEA4-4AF4-B7E3-C88D0A4C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66CB9-4C88-48CA-A222-F51FB8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8DCCD-0812-4599-AF7F-A6746091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BLOCK SEPARATION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8FB4A-ECFA-4B4A-9508-75CEF65E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9EAF-E659-4F33-B4C2-7132610B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06 / PHYSICAL BLOCK SEPARATION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6C57D-7FEA-493C-91A5-554A181E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Generated geometry code finds page-local blocks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AC987-9040-40C5-91C7-935A99CF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On page 1, twelve visual regions map to four node types; multi-page tables remain separate continuation blocks.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8C760-B98B-431C-B97C-C284EF46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8105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351700ce94d4c"/>
          <a:stretch xmlns:a="http://schemas.openxmlformats.org/drawingml/2006/main"/>
        </p:blipFill>
        <p:spPr>
          <a:xfrm xmlns:a="http://schemas.openxmlformats.org/drawingml/2006/main">
            <a:off x="2014481" y="2247900"/>
            <a:ext cx="4810237" cy="3714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F1C2-2F6A-4B0D-B9D3-7A0E6530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5717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4FA03-319F-409E-9204-7CE6AB3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IDENTITY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28A4B-820D-496A-B3E5-714479F8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0764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957DF-1A36-4356-B6FB-1FAA04C0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17335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block_id =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&lt;node_id&gt;_&lt;instance&gt;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0_1  summary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1_1  complainant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2_1  complaints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3_1  officers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uid = physical join key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C6F52-FDC6-4D50-B55E-61666D12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4F43"/>
                </a:solidFill>
              </a:defRPr>
            </a:pPr>
            <a:r>
              <a:rPr sz="1800" b="1" i="0">
                <a:solidFill>
                  <a:srgbClr val="A94F43"/>
                </a:solidFill>
              </a:rPr>
              <a:t>Page-local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369B3-A42F-4792-AF83-A7B5600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72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A block emitted under page P may contain only page-P words.</a:t>
            </a:r>
          </a:p>
        </p:txBody>
      </p:sp>
    </p:spTree>
    <p:extLst>
      <p:ext uri="{BB962C8B-B14F-4D97-AF65-F5344CB8AC3E}">
        <p14:creationId xmlns:p14="http://schemas.microsoft.com/office/powerpoint/2010/main" val="1982615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eft-rail">
            <a:extLst xmlns:a="http://schemas.openxmlformats.org/drawingml/2006/main">
              <a:ext uri="{FF2B5EF4-FFF2-40B4-BE49-F238E27FC236}">
                <a16:creationId xmlns:a16="http://schemas.microsoft.com/office/drawing/2014/main" id="{58E8E3BF-6856-41FD-AF6E-B4FECF6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35D6-36A9-433B-86F1-570420B6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43705-B76F-47B7-A781-C33C9922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83588-B233-40DF-934E-0F067934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1A0F-AE5E-4BB3-A2D4-BE3190D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RECORD GROUPING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CB91A-DD43-4105-B821-FA025ECC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CE7FF-CD4B-4DFC-B4CD-A02C2AB9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07 / LOGICAL RECORD GROUPING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3BD8D-201B-4D20-B532-8BBDAACD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Blocks 0 → 1 → 2 → 3 form one complaint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1699C-C096-4B8F-8971-1F6FDBC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Deterministic grouping preserves every physical block while producing a record-level JSON 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86981-647E-4717-A0BE-CB6A9DE0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8105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cddc680b94f8d"/>
          <a:stretch xmlns:a="http://schemas.openxmlformats.org/drawingml/2006/main"/>
        </p:blipFill>
        <p:spPr>
          <a:xfrm xmlns:a="http://schemas.openxmlformats.org/drawingml/2006/main">
            <a:off x="2014481" y="2247900"/>
            <a:ext cx="4810237" cy="3714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FC224-0F52-4222-AECD-E44FFE8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5717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9525">
            <a:solidFill>
              <a:srgbClr val="3F7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41713-885B-47E7-BDEA-0F691AC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ONE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17E47-2B18-41EF-B985-235B9179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718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E6A31-6419-4C18-9F54-4B73E7CF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84E93-7720-49C2-8339-4E0720B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2B28"/>
                </a:solidFill>
              </a:defRPr>
            </a:pPr>
            <a:r>
              <a:rPr sz="1125" b="1" i="0">
                <a:solidFill>
                  <a:srgbClr val="252B28"/>
                </a:solidFill>
              </a:rPr>
              <a:t>0_0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22AF9-CC0E-4821-9085-E818CC4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384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165E2-ACA0-4241-A269-93EC3477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814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194A1-8D36-478C-A96C-1A567A31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3A1B2-35D5-407D-8D71-CB31B95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2B28"/>
                </a:solidFill>
              </a:defRPr>
            </a:pPr>
            <a:r>
              <a:rPr sz="1125" b="1" i="0">
                <a:solidFill>
                  <a:srgbClr val="252B28"/>
                </a:solidFill>
              </a:rPr>
              <a:t>1_0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FF5A6-76E4-48F5-9662-2A8B3161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480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KV details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12EFB-AF24-4F8C-8816-C7DC54E7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910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53060-6737-42A7-AE6E-159AD2F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277C4-2C2A-424D-B393-BA3587E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57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2B28"/>
                </a:solidFill>
              </a:defRPr>
            </a:pPr>
            <a:r>
              <a:rPr sz="1125" b="1" i="0">
                <a:solidFill>
                  <a:srgbClr val="252B28"/>
                </a:solidFill>
              </a:rPr>
              <a:t>2_0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6F565-22F7-456E-8C5F-E7B1810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576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complaint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9CA66-1054-4EAE-972B-F5621B3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E67BB-EA3F-4E69-920F-C6D9E232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67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2B28"/>
                </a:solidFill>
              </a:defRPr>
            </a:pPr>
            <a:r>
              <a:rPr sz="1125" b="1" i="0">
                <a:solidFill>
                  <a:srgbClr val="252B28"/>
                </a:solidFill>
              </a:rPr>
              <a:t>3_0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2E011-5C41-41E0-95A8-095B32AB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672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officer rows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9B9CF-F1A3-4821-92D3-CE71E75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3400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AFB79-12B6-4DA4-BA73-0F35D84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84E40"/>
                </a:solidFill>
              </a:defRPr>
            </a:pPr>
            <a:r>
              <a:rPr sz="1950" b="1" i="0">
                <a:solidFill>
                  <a:srgbClr val="284E40"/>
                </a:solidFill>
              </a:rPr>
              <a:t>56 / 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ADC69-7119-489B-83CB-A00D6C01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77215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F6862"/>
                </a:solidFill>
              </a:defRPr>
            </a:pPr>
            <a:r>
              <a:rPr sz="825" b="0" i="0">
                <a:solidFill>
                  <a:srgbClr val="5F6862"/>
                </a:solidFill>
              </a:rPr>
              <a:t>matched test records</a:t>
            </a:r>
          </a:p>
        </p:txBody>
      </p:sp>
    </p:spTree>
    <p:extLst>
      <p:ext uri="{BB962C8B-B14F-4D97-AF65-F5344CB8AC3E}">
        <p14:creationId xmlns:p14="http://schemas.microsoft.com/office/powerpoint/2010/main" val="1498722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eft-rail">
            <a:extLst xmlns:a="http://schemas.openxmlformats.org/drawingml/2006/main">
              <a:ext uri="{FF2B5EF4-FFF2-40B4-BE49-F238E27FC236}">
                <a16:creationId xmlns:a16="http://schemas.microsoft.com/office/drawing/2014/main" id="{119ACDF1-E950-48B9-A844-8A235B2D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5F75E-CF15-4F85-9C0B-F36903B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7D5CA-4D55-4A74-8DF7-717A99B0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4D482-0052-4B86-8EE3-9EABF31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A6D2D-22A9-4224-9EFD-E65DCAF7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CODE SYNTHESIS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97CE7-B705-487A-9B08-AF021AC1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A3EC8-FC68-4D38-A5A6-0B0F6249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08 / DIFFICULTY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DB66E-1211-4FF3-A0BF-85792E7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Routing reserves the stronger model for difficult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DA3EC-1F74-4634-BA63-88C01E59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Nodes 0 and 1 use Qwen3.8 Flash; the harder table extractors use GLM-5.3 Flash.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41362-F23B-495C-AB8F-447F1C32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9D888-C32B-4C01-8EEA-1FB3B383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4E40"/>
                </a:solidFill>
              </a:defRPr>
            </a:pPr>
            <a:r>
              <a:rPr sz="1050" b="1" i="0">
                <a:solidFill>
                  <a:srgbClr val="284E40"/>
                </a:solidFill>
              </a:rPr>
              <a:t>NODE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840D9-853D-4D75-B638-0613674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5846E-8B08-48BB-8266-915C5B7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198 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97AFB-949E-4446-AB07-E9AF97D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Qwen3.8 Flash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AF319-131D-4494-9E86-FD25926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BD0CF-F10C-4740-9FB7-5396D90C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4E40"/>
                </a:solidFill>
              </a:defRPr>
            </a:pPr>
            <a:r>
              <a:rPr sz="1050" b="1" i="0">
                <a:solidFill>
                  <a:srgbClr val="284E40"/>
                </a:solidFill>
              </a:rPr>
              <a:t>NODE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376C8-766B-45B7-ACB8-636BF7D7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38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KEY-VALUE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7D394-E829-441B-BC4D-8DE24D58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139 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1A4C2-9C71-49B5-9525-E952DFA0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Qwen3.8 Flash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FE867-531A-4DB3-8F81-5140A58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8F9AD-679D-49D2-A8EA-86A33C6D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4E40"/>
                </a:solidFill>
              </a:defRPr>
            </a:pPr>
            <a:r>
              <a:rPr sz="1050" b="1" i="0">
                <a:solidFill>
                  <a:srgbClr val="284E40"/>
                </a:solidFill>
              </a:rPr>
              <a:t>NODE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55FD9-9BD5-494A-A35B-FE59A78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9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5F6F8-2ABF-4C34-AF5C-D25AC96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9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224 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C0106-0150-4663-82CB-7B6BADA1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9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GLM-5.3 Flash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DAD6D-AA8B-4085-A91F-98D913AD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01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E2443-39DD-4D0E-8D58-6CC3DD2E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84E40"/>
                </a:solidFill>
              </a:defRPr>
            </a:pPr>
            <a:r>
              <a:rPr sz="1050" b="1" i="0">
                <a:solidFill>
                  <a:srgbClr val="284E40"/>
                </a:solidFill>
              </a:rPr>
              <a:t>NODE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E1B93-D70A-4776-9481-D1161F99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TABLE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029DD-EF4A-42FD-AB5E-E0AEFAF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190 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A6263-971E-4CE5-88E0-3CC44232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00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GLM-5.3 Flash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790815-D2AC-44C2-B91C-C85B08E7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429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49CAB-2379-45A6-BF4A-38FCACFD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086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# extraction_scripts/&lt;node_id&gt;.py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def extract(block: dict) -&gt; dict: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   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# runtime dispatch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node_id = block["block_id"].rsplit("_", 1)[0]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result = extractor[node_id].extract(relative_block)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result["page"] = page</a:t>
            </a:r>
          </a:p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result["uid"] = uid</a:t>
            </a:r>
          </a:p>
        </p:txBody>
      </p:sp>
    </p:spTree>
    <p:extLst>
      <p:ext uri="{BB962C8B-B14F-4D97-AF65-F5344CB8AC3E}">
        <p14:creationId xmlns:p14="http://schemas.microsoft.com/office/powerpoint/2010/main" val="17975182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left-rail">
            <a:extLst xmlns:a="http://schemas.openxmlformats.org/drawingml/2006/main">
              <a:ext uri="{FF2B5EF4-FFF2-40B4-BE49-F238E27FC236}">
                <a16:creationId xmlns:a16="http://schemas.microsoft.com/office/drawing/2014/main" id="{4BF6F80B-5767-4585-88C0-8C05F746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6A291-A8FE-4C1D-9709-4F208AFA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A0DD4-9E53-46C4-963E-4D460835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F3BE1-195E-489F-9189-1979FF92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191EC-993B-4DA2-960E-5A36FE27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PORTABLE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19D3D-69FE-4BB0-AF91-F89C3EC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5B0C1-2D2F-4EB3-A924-EDEDEE3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09 / RUNTIME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FF8C5-A842-46F6-A4BF-DE965D46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The deployed path is a six-step local 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CA236-536B-46DB-957E-8CA58F0C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LangGraph, OpenCode and model providers disappear from the production extraction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DE52C-2FAA-4D62-BF1D-16DA11A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A2DFC-9EF3-4B44-9C80-19FA82D5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242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C3FF3-74B3-4459-82A8-9E750B8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242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BC25F-519D-439F-A9F4-F36F7E0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242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F6C24-5174-411D-B840-4EDC6430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2422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7BA4A-6710-4C15-A427-016AE82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DFFA2-3461-4127-8596-CAAEB131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36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A622D-8B94-4BAE-BF17-F0AA8A20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670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A69AB-F0B5-4D64-930A-C629261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New 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DA4E2-54BC-4E15-9FE8-2E571A0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same family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A8074-7F68-451D-A19C-E7F2EC2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5BD4B-4017-422E-BDD7-0FF84C7F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6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8ECD8-7089-4E28-9EF7-7CA83403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670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4FF59-433A-4E26-A051-2233F300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38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OCR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C4746-858D-4424-8B69-8FA249F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words + geometry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D3402-2635-4E58-B1D5-BAC4F956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DD5E1-00E1-4B66-B563-DED4785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36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4E95F-450D-4317-9AD7-45810E10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8670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FF3FFB-0AE3-4679-A2FF-1D28076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38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Separate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693A0-95D5-4040-AAD7-5425E3DD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52775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blocks + uids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2F120-0A56-45C4-AB3C-71F66B05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9F8DF-736C-4663-9ED6-A160B202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36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C58D6-D1CB-4B9A-8AA6-3107CBAF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670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B9CD62-493D-4925-A9CA-C775CA3E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Extract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D97547-8524-4ED0-B4F8-EA92D279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52775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relative blocks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442075-1F2A-4DF6-B45B-E04573EC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351CB6-427B-4AA2-B70E-C13135B4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6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717191-0F51-43B2-B0AA-264CE600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8670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98D96F-A293-48C6-8BFD-E0268BC7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Group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082D07-3FB9-4A0F-8C58-2A8CB8A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52775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logical records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B23AC9-7DD9-4359-90E0-AFFD8DA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CEA080-4F69-4077-BA2F-6B4B2EF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361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5E4DE6-1565-4A1B-A990-D56D8B84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670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862"/>
                </a:solidFill>
              </a:defRPr>
            </a:pPr>
            <a:r>
              <a:rPr sz="1350" b="1" i="0">
                <a:solidFill>
                  <a:srgbClr val="5F6862"/>
                </a:solidFill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90DEF5-BE43-4A4D-8237-FF03756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JSON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76E002-9868-448E-8631-78B894C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52775"/>
            <a:ext cx="914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portable output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D9456-99CD-49F3-AD40-11DB8FCD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DE19E1-CD64-47BA-91DB-29098CB5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8EEE9"/>
                </a:solidFill>
              </a:defRPr>
            </a:pPr>
            <a:r>
              <a:rPr sz="1200" b="1" i="0">
                <a:solidFill>
                  <a:srgbClr val="E8EEE9"/>
                </a:solidFill>
              </a:rPr>
              <a:t>NO LANGGRAPH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234133-AB61-418C-99A8-9CDCC90E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8EEE9"/>
                </a:solidFill>
              </a:defRPr>
            </a:pPr>
            <a:r>
              <a:rPr sz="1200" b="1" i="0">
                <a:solidFill>
                  <a:srgbClr val="E8EEE9"/>
                </a:solidFill>
              </a:rPr>
              <a:t>NO OPENCODE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A77F5D-5229-4FA6-B826-04EDFF1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DB6AA"/>
                </a:solidFill>
              </a:defRPr>
            </a:pPr>
            <a:r>
              <a:rPr sz="1200" b="1" i="0">
                <a:solidFill>
                  <a:srgbClr val="9DB6AA"/>
                </a:solidFill>
              </a:rPr>
              <a:t>NO MODEL CALLS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C86608-FC09-49AA-9A4B-CB1C8641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The marginal LLM/API cost of extraction is zero after compilation; local compute remains.</a:t>
            </a:r>
          </a:p>
        </p:txBody>
      </p:sp>
    </p:spTree>
    <p:extLst>
      <p:ext uri="{BB962C8B-B14F-4D97-AF65-F5344CB8AC3E}">
        <p14:creationId xmlns:p14="http://schemas.microsoft.com/office/powerpoint/2010/main" val="751090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ft-rail">
            <a:extLst xmlns:a="http://schemas.openxmlformats.org/drawingml/2006/main">
              <a:ext uri="{FF2B5EF4-FFF2-40B4-BE49-F238E27FC236}">
                <a16:creationId xmlns:a16="http://schemas.microsoft.com/office/drawing/2014/main" id="{7067FA3E-F873-41C5-AC59-00CE3802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112C0-2E6A-4FEA-A3A0-FAA27DC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0411A-53C1-46EF-A549-A3B58BD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B9388-4ECF-418B-9A7D-9B7E4348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07B8E-ED52-48E7-8419-24845B35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RUNTIME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486BE-5646-48BB-BE2D-53D8D70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1F736-14B0-4D9B-B73D-68C07217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10 / EXTRACTED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271FF-1AC3-4E3B-8FBA-70F69D9C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Physical blocks stay visible inside each logical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9C4EC-17BD-49D3-8E49-E0DE76EB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Grouping preserves page, uid and block identity while making the output usable downstream.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A61B3-90F4-4140-B258-BECE5958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51435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2BD4-E993-442B-9C07-C9C02CF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8006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{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"record_id": "0",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"blocks": [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  {"block_id": "0_0", "type": "table", "page": 1},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  {"block_id": "1_0", "type": "kv",    "page": 1},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  {"block_id": "2_0", "type": "table", "page": 1},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  {"block_id": "3_0", "type": "table", "page": 1}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  ]</a:t>
            </a:r>
          </a:p>
          <a:p xmlns:a="http://schemas.openxmlformats.org/drawingml/2006/main">
            <a:pPr algn="l">
              <a:defRPr sz="1275" b="0" i="0">
                <a:solidFill>
                  <a:srgbClr val="E8EEE9"/>
                </a:solidFill>
              </a:defRPr>
            </a:pPr>
            <a:r>
              <a:rPr sz="1275" b="0" i="0">
                <a:solidFill>
                  <a:srgbClr val="E8EEE9"/>
                </a:solidFill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D1E5A-E865-459F-8562-04382370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5162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E66A9-E88C-4909-BF5C-099D48F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RECORD 0 / SELECTED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55F4-455C-4535-9008-A8933F16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3CFDB-0521-4E0C-B57B-193FA0BE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7/19/2012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FA841-7D77-4A6B-92D1-9F3C01BB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NUMBER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5AEBC-FD71-46E7-96BD-D2A0E3C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08-14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E6635-D553-4346-AFFC-6FD2A55C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INVESTIGATOR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FAA8D-C9D1-4859-B99A-5D76C100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Kim, Joon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B95ED-7A48-4116-B2AB-79704BB0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DISPOSITION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9A8E8-0044-4407-BF68-1087D045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UNFOUNDED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DFE97-52FC-4A67-9F24-8071A03E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GENDER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D7E15-889C-4E6C-B990-FDB334D8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MALE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B33B2-0BE3-4CBF-8A6A-64B47B2E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24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OFFICER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802FE-2DC5-432A-8460-C2F8533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33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Carter, Felix.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C20BF-658B-4061-A7BD-8FB8F31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COMPLAINT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740D5-B970-459A-B53F-74F7C06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R-3B.3 Courtesy: Conduct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C2C28A-9E34-45FB-AF94-CC50205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72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61671-13F9-44AE-9755-2F436C19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81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2B28"/>
                </a:solidFill>
              </a:defRPr>
            </a:pPr>
            <a:r>
              <a:rPr sz="1275" b="1" i="0">
                <a:solidFill>
                  <a:srgbClr val="252B28"/>
                </a:solidFill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1748907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left-rail">
            <a:extLst xmlns:a="http://schemas.openxmlformats.org/drawingml/2006/main">
              <a:ext uri="{FF2B5EF4-FFF2-40B4-BE49-F238E27FC236}">
                <a16:creationId xmlns:a16="http://schemas.microsoft.com/office/drawing/2014/main" id="{0F02AE53-16FF-4F62-8936-D2F84599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7B2D9-B4C0-4188-9B39-3586C2BD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B7D4D-21AD-46A2-ACBA-173546D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272D1-39A3-4545-899A-E1A0F933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7F298-90A3-4B64-A0C1-69E9064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BE8A0-9157-46E2-81DC-58CE6E11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FE7EE-615C-401F-BE3F-0F023F21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11 / HELD-OUT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9BA16-9E60-41ED-9C3F-5FEF2C6C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Held-out extraction reaches 95.5%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88F57-6DA7-4A39-99CE-D7EF742E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Across 15 independent pages, every record and node type is found; remaining errors are localized value-boundary and column-assignment issues.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2CE2B-6FE5-462F-9B78-8A56222C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24F44-56E4-4860-A6F8-2956F492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F705F"/>
                </a:solidFill>
              </a:defRPr>
            </a:pPr>
            <a:r>
              <a:rPr sz="2550" b="1" i="0">
                <a:solidFill>
                  <a:srgbClr val="3F705F"/>
                </a:solidFill>
              </a:rPr>
              <a:t>95.1%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2DA90-6C7B-436B-B869-2D852D7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TRAIN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7908F-C4EB-4EFF-B093-ECBDC8A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5 pages / 19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B3F7E-974F-4D6C-B2A9-C8335476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42641-264A-47C1-9B4C-6333FD14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84E40"/>
                </a:solidFill>
              </a:defRPr>
            </a:pPr>
            <a:r>
              <a:rPr sz="2550" b="1" i="0">
                <a:solidFill>
                  <a:srgbClr val="284E40"/>
                </a:solidFill>
              </a:rPr>
              <a:t>95.5%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3C05A-E124-4F28-B3AF-F8DB5C94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TEST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EEADA-10F5-43D0-AFB6-87F87268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0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15 pages / 56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BD15B-C245-4077-A496-637B8C6A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B32"/>
          </a:solidFill>
          <a:ln xmlns:a="http://schemas.openxmlformats.org/drawingml/2006/main" w="0">
            <a:solidFill>
              <a:srgbClr val="B57B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DCA87-4A18-431C-918D-6AC65AC1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B57B32"/>
                </a:solidFill>
              </a:defRPr>
            </a:pPr>
            <a:r>
              <a:rPr sz="2550" b="1" i="0">
                <a:solidFill>
                  <a:srgbClr val="B57B32"/>
                </a:solidFill>
              </a:rPr>
              <a:t>1.000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7B8D0-7525-407D-95AC-AA30BA6D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RECORD MATCH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59665-7DB0-425F-99DA-FF0CB1C6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004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perfect precision +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05E63-071E-4D38-A19B-4D1A73E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438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89258-9E41-41AC-A0F7-1442CDA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94F43"/>
                </a:solidFill>
              </a:defRPr>
            </a:pPr>
            <a:r>
              <a:rPr sz="2550" b="1" i="0">
                <a:solidFill>
                  <a:srgbClr val="A94F43"/>
                </a:solidFill>
              </a:rPr>
              <a:t>1.000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01DC0-3029-458F-8B24-B3C83029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NODE MATCH F1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7B225-2329-47DA-8CAE-CE385E6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862"/>
                </a:solidFill>
              </a:defRPr>
            </a:pPr>
            <a:r>
              <a:rPr sz="1125" b="0" i="0">
                <a:solidFill>
                  <a:srgbClr val="5F6862"/>
                </a:solidFill>
              </a:rPr>
              <a:t>typed precision + 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7D79E-C47C-4D80-B99B-C7A4804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Content overall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E3F55-F32F-4AA9-BC91-9145382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26D55-4CA9-4F8F-B3A9-40E12E07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60649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A0EA6-388E-40DE-8F0E-DFCA99B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00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3F705F"/>
                </a:solidFill>
              </a:defRPr>
            </a:pPr>
            <a:r>
              <a:rPr sz="1050" b="1" i="0">
                <a:solidFill>
                  <a:srgbClr val="3F705F"/>
                </a:solidFill>
              </a:rPr>
              <a:t>0.910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78ED2-1BBB-4E20-9D87-DCAE9C9D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Key-value 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6DF51F-2215-4676-B3E6-1E61816B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7FF62-0382-4EDE-96E5-6434AC11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559593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8B991-8676-4D68-B752-572EDBF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84E40"/>
                </a:solidFill>
              </a:defRPr>
            </a:pPr>
            <a:r>
              <a:rPr sz="1050" b="1" i="0">
                <a:solidFill>
                  <a:srgbClr val="284E40"/>
                </a:solidFill>
              </a:rPr>
              <a:t>0.839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C7161-481C-4412-B1EB-5162D2FD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Table content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2EBE8A-7CA6-45BC-BB06-FD8ED07E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931CBE-554A-4CE7-AE1D-575C89B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626110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B32"/>
          </a:solidFill>
          <a:ln xmlns:a="http://schemas.openxmlformats.org/drawingml/2006/main" w="0">
            <a:solidFill>
              <a:srgbClr val="B57B3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A0759-FC8E-41CC-837A-E3C4BF4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05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57B32"/>
                </a:solidFill>
              </a:defRPr>
            </a:pPr>
            <a:r>
              <a:rPr sz="1050" b="1" i="0">
                <a:solidFill>
                  <a:srgbClr val="B57B32"/>
                </a:solidFill>
              </a:rPr>
              <a:t>0.939</a:t>
            </a:r>
          </a:p>
        </p:txBody>
      </p:sp>
    </p:spTree>
    <p:extLst>
      <p:ext uri="{BB962C8B-B14F-4D97-AF65-F5344CB8AC3E}">
        <p14:creationId xmlns:p14="http://schemas.microsoft.com/office/powerpoint/2010/main" val="1609110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eft-rail">
            <a:extLst xmlns:a="http://schemas.openxmlformats.org/drawingml/2006/main">
              <a:ext uri="{FF2B5EF4-FFF2-40B4-BE49-F238E27FC236}">
                <a16:creationId xmlns:a16="http://schemas.microsoft.com/office/drawing/2014/main" id="{72DD1340-AD39-44D2-9EE4-C41866B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9110A-EC6A-425C-92D9-34F00CFC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F804B-AE51-492C-A029-B249B324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5F826-4F54-4249-9DB1-7EB76224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8D845-F951-466D-8AE6-A0EADF9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B7854-0E92-4126-89C7-9B42406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5A371-3FD3-44D1-BDCA-6D61DA2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12 / ERROR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A6E50-664F-4B18-A719-B88E5B48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The residual gap is narrow and actionable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0143C-72AE-4683-8B15-556B4F4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The scorer reports field-level reasons that can be handed directly to the optional repair loop.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6CE8E-66C6-4B35-81F3-E2C3881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51435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8B2D4-4613-4297-8CC1-6C510A9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4F43"/>
                </a:solidFill>
              </a:defRPr>
            </a:pPr>
            <a:r>
              <a:rPr sz="900" b="0" i="0">
                <a:solidFill>
                  <a:srgbClr val="A94F43"/>
                </a:solidFill>
              </a:rPr>
              <a:t>TYPICAL MISMATCH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D5FF8-8BD6-4739-84CE-3BAA843B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Gold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38DBE-BC1F-4360-B06C-C9B8FAC2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180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52B28"/>
                </a:solidFill>
              </a:defRPr>
            </a:pPr>
            <a:r>
              <a:rPr sz="1425" b="1" i="0">
                <a:solidFill>
                  <a:srgbClr val="252B28"/>
                </a:solidFill>
              </a:rPr>
              <a:t>FORMAL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DF0EB-F90E-4056-B78E-148C3362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DA059-CEA9-4C27-A39B-E0D62650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D0E0A-4FBF-4E6E-9688-B23E6DB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4F43"/>
                </a:solidFill>
              </a:defRPr>
            </a:pPr>
            <a:r>
              <a:rPr sz="1425" b="1" i="0">
                <a:solidFill>
                  <a:srgbClr val="A94F43"/>
                </a:solidFill>
              </a:rPr>
              <a:t>FORMAL Citizen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51C2F-4276-43BF-8DE5-06A60228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0E162-FFE8-4687-8088-434A5B5F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A588C-8DC1-46EB-BB9A-9489723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A neighboring column value crosses the Category / Type boundary.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2AB882-277A-437E-BF2F-B12496D8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5162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9525">
            <a:solidFill>
              <a:srgbClr val="3F7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73714-8DE7-4B01-86F0-C71DFA79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WHAT IS NOT FAILING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F44BC-37FD-4665-B38F-62DD9205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41A3B-5E10-4321-9E0E-55BA1226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28"/>
                </a:solidFill>
              </a:defRPr>
            </a:pPr>
            <a:r>
              <a:rPr sz="1425" b="0" i="0">
                <a:solidFill>
                  <a:srgbClr val="252B28"/>
                </a:solidFill>
              </a:rPr>
              <a:t>No missing gold records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C3194-0E9C-4DCB-8FCD-51144C44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53141-1E2D-4A57-A5A2-C07FDC50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38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28"/>
                </a:solidFill>
              </a:defRPr>
            </a:pPr>
            <a:r>
              <a:rPr sz="1425" b="0" i="0">
                <a:solidFill>
                  <a:srgbClr val="252B28"/>
                </a:solidFill>
              </a:rPr>
              <a:t>No extra candidate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555A6-D51E-4C63-87C4-3137084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A170A-57E9-4EC1-ACDF-7FCB4F3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28"/>
                </a:solidFill>
              </a:defRPr>
            </a:pPr>
            <a:r>
              <a:rPr sz="1425" b="0" i="0">
                <a:solidFill>
                  <a:srgbClr val="252B28"/>
                </a:solidFill>
              </a:rPr>
              <a:t>No missing or extra nodes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62169F-D0EA-4FBA-92BC-3640036D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92FA2-5C00-45AD-9FD7-85D13722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7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52B28"/>
                </a:solidFill>
              </a:defRPr>
            </a:pPr>
            <a:r>
              <a:rPr sz="1425" b="0" i="0">
                <a:solidFill>
                  <a:srgbClr val="252B28"/>
                </a:solidFill>
              </a:rPr>
              <a:t>No node type mismatches</a:t>
            </a:r>
          </a:p>
        </p:txBody>
      </p:sp>
    </p:spTree>
    <p:extLst>
      <p:ext uri="{BB962C8B-B14F-4D97-AF65-F5344CB8AC3E}">
        <p14:creationId xmlns:p14="http://schemas.microsoft.com/office/powerpoint/2010/main" val="106484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left-rail">
            <a:extLst xmlns:a="http://schemas.openxmlformats.org/drawingml/2006/main">
              <a:ext uri="{FF2B5EF4-FFF2-40B4-BE49-F238E27FC236}">
                <a16:creationId xmlns:a16="http://schemas.microsoft.com/office/drawing/2014/main" id="{8752E8DE-B8B8-43E2-BB94-9D37D210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2CA90-0FBB-4CD6-A541-B50C962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A9031-CDD3-4D92-8A8B-87BBE8B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582B6-268B-42EB-8461-5ABA1758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6153D-8B6E-4873-8C69-12E8EDF2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ARTIFACTS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9C1A0-F68E-46DD-9C60-12C63E5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3161C-64E8-4751-86F9-69572B94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13 / AUDIT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F7C65-612E-4F37-8AB3-48686BFA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Every phase leaves a file that can be inspected or deployed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31AEC-36FA-4DC9-8BB1-AFDA9E4F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The run directory is simultaneously a provenance record, a visual QA workspace and a portable extractor.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97714-6344-4C7A-B78B-CDA12DC8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07251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2CDFB-C3BE-4252-A030-EC062A5C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4E40"/>
                </a:solidFill>
              </a:defRPr>
            </a:pPr>
            <a:r>
              <a:rPr sz="1125" b="1" i="0">
                <a:solidFill>
                  <a:srgbClr val="284E40"/>
                </a:solidFill>
              </a:rPr>
              <a:t>UI/runs/run-20260901-184959-d47392/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DB88D-032A-4A34-BCD4-0450F14C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52B28"/>
                </a:solidFill>
              </a:defRPr>
            </a:pPr>
            <a:r>
              <a:rPr sz="1125" b="0" i="0">
                <a:solidFill>
                  <a:srgbClr val="252B28"/>
                </a:solidFill>
              </a:rPr>
              <a:t>├── ocr_extraction_full.csv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88E53-E120-41C5-988F-C35C4F59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full-document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A8605-7599-4131-BCDB-AD31A270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52B28"/>
                </a:solidFill>
              </a:defRPr>
            </a:pPr>
            <a:r>
              <a:rPr sz="1125" b="0" i="0">
                <a:solidFill>
                  <a:srgbClr val="252B28"/>
                </a:solidFill>
              </a:rPr>
              <a:t>├── template.json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5C36A-CE4F-499A-9886-D633C5D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schema + metadata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04A77-F015-4ADD-847A-B28B26C9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52B28"/>
                </a:solidFill>
              </a:defRPr>
            </a:pPr>
            <a:r>
              <a:rPr sz="1125" b="0" i="0">
                <a:solidFill>
                  <a:srgbClr val="252B28"/>
                </a:solidFill>
              </a:rPr>
              <a:t>├── metadata.json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C4139-471B-4CCA-8CBA-4A9ACAD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models, configuration, scores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B8C2E-FD67-4947-A22F-F5BD99E3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52B28"/>
                </a:solidFill>
              </a:defRPr>
            </a:pPr>
            <a:r>
              <a:rPr sz="1125" b="0" i="0">
                <a:solidFill>
                  <a:srgbClr val="252B28"/>
                </a:solidFill>
              </a:rPr>
              <a:t>├── artifacts/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EC8AA-2DD2-4D2F-8FC4-8A1B7DF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block + record overlays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8E442-D7AE-4168-B1B0-4F3DDFB4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52B28"/>
                </a:solidFill>
              </a:defRPr>
            </a:pPr>
            <a:r>
              <a:rPr sz="1125" b="0" i="0">
                <a:solidFill>
                  <a:srgbClr val="252B28"/>
                </a:solidFill>
              </a:rPr>
              <a:t>├── agent_space/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DC57E-580B-4B42-B345-CEEA5C5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train/test PDFs and OCR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F9D9E-3FBD-4BA9-BA54-A9D76C1C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4E40"/>
                </a:solidFill>
              </a:defRPr>
            </a:pPr>
            <a:r>
              <a:rPr sz="1125" b="1" i="0">
                <a:solidFill>
                  <a:srgbClr val="284E40"/>
                </a:solidFill>
              </a:rPr>
              <a:t>└── pipeline/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17315-A068-48FE-81B0-1A926A80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6862"/>
                </a:solidFill>
              </a:defRPr>
            </a:pPr>
            <a:r>
              <a:rPr sz="1200" b="0" i="0">
                <a:solidFill>
                  <a:srgbClr val="5F6862"/>
                </a:solidFill>
              </a:rPr>
              <a:t>deployable bundle + 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6FF549-2421-4877-8409-9EF27A3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C1A2D-2B5E-40B1-96FD-4EDD50CE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84E40"/>
                </a:solidFill>
              </a:defRPr>
            </a:pPr>
            <a:r>
              <a:rPr sz="1275" b="1" i="0">
                <a:solidFill>
                  <a:srgbClr val="284E40"/>
                </a:solidFill>
              </a:rPr>
              <a:t>pipeline/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7F41C-C168-4D52-8D94-F03C1D4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52B28"/>
                </a:solidFill>
              </a:defRPr>
            </a:pPr>
            <a:r>
              <a:rPr sz="975" b="0" i="0">
                <a:solidFill>
                  <a:srgbClr val="252B28"/>
                </a:solidFill>
              </a:rPr>
              <a:t>pipeline.py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F41CC-A2A0-416B-8F0A-5C4B8EB2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04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52B28"/>
                </a:solidFill>
              </a:defRPr>
            </a:pPr>
            <a:r>
              <a:rPr sz="975" b="0" i="0">
                <a:solidFill>
                  <a:srgbClr val="252B28"/>
                </a:solidFill>
              </a:rPr>
              <a:t>block_separation.py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227297-7600-4CE3-8C12-E7A9373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957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52B28"/>
                </a:solidFill>
              </a:defRPr>
            </a:pPr>
            <a:r>
              <a:rPr sz="975" b="0" i="0">
                <a:solidFill>
                  <a:srgbClr val="252B28"/>
                </a:solidFill>
              </a:rPr>
              <a:t>extraction_scripts/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1D713-E9B1-41F9-9326-238EBAE8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909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52B28"/>
                </a:solidFill>
              </a:defRPr>
            </a:pPr>
            <a:r>
              <a:rPr sz="975" b="0" i="0">
                <a:solidFill>
                  <a:srgbClr val="252B28"/>
                </a:solidFill>
              </a:rPr>
              <a:t>record_grouping.py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4D7F9F-9FE0-465F-893D-462CFDB2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52B28"/>
                </a:solidFill>
              </a:defRPr>
            </a:pPr>
            <a:r>
              <a:rPr sz="975" b="0" i="0">
                <a:solidFill>
                  <a:srgbClr val="252B28"/>
                </a:solidFill>
              </a:rPr>
              <a:t>requirements.txt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5D6599-59E2-44EB-82DA-66071BC3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8152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52B28"/>
                </a:solidFill>
              </a:defRPr>
            </a:pPr>
            <a:r>
              <a:rPr sz="975" b="0" i="0">
                <a:solidFill>
                  <a:srgbClr val="252B28"/>
                </a:solidFill>
              </a:rPr>
              <a:t>template.json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3C20AF-2940-4C1B-9A64-F2C25A8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768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grouped.json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7F62F-3B1E-4BF1-A4FC-D95DC3F3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720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pipeline_health.json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5A6AC5-73BF-4FE5-AD74-D66CF7EC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6735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B928C"/>
                </a:solidFill>
              </a:defRPr>
            </a:pPr>
            <a:r>
              <a:rPr sz="975" b="0" i="0">
                <a:solidFill>
                  <a:srgbClr val="8B928C"/>
                </a:solidFill>
              </a:rPr>
              <a:t>eval.json + eval.txt</a:t>
            </a:r>
          </a:p>
        </p:txBody>
      </p:sp>
    </p:spTree>
    <p:extLst>
      <p:ext uri="{BB962C8B-B14F-4D97-AF65-F5344CB8AC3E}">
        <p14:creationId xmlns:p14="http://schemas.microsoft.com/office/powerpoint/2010/main" val="1542252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left-rail">
            <a:extLst xmlns:a="http://schemas.openxmlformats.org/drawingml/2006/main">
              <a:ext uri="{FF2B5EF4-FFF2-40B4-BE49-F238E27FC236}">
                <a16:creationId xmlns:a16="http://schemas.microsoft.com/office/drawing/2014/main" id="{9E3EDCA8-13EC-4253-9677-5E367BA9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2F144-7FE5-4158-A20C-0A4AA67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1F604-96AE-4A67-9C14-BCADBD3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09909-4976-44E1-97AD-7F9FE95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D8F9A-2BA2-4326-A560-002A5682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ECONOMICS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C6656-5185-4D3B-827D-18D8221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41804-20C3-4A0C-9AD3-8CF9837C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14 / COST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00FDA-AEE6-4067-B5AE-35D03932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One compilation cost is amortized over every later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21768-F362-491D-BAAC-A0FE618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The architectural claim is about marginal model cost, not about eliminating local compute.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CAC19-870F-45DF-9D27-45C275E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F"/>
          </a:solidFill>
          <a:ln xmlns:a="http://schemas.openxmlformats.org/drawingml/2006/main" w="19050">
            <a:solidFill>
              <a:srgbClr val="3F7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81278-1E2A-4ABA-9673-8A2F2509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3F705F"/>
                </a:solidFill>
              </a:defRPr>
            </a:pPr>
            <a:r>
              <a:rPr sz="900" b="0" i="0">
                <a:solidFill>
                  <a:srgbClr val="3F705F"/>
                </a:solidFill>
              </a:rPr>
              <a:t>AFTER COMPILATION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83AAF-FC68-4392-A006-C9C2823F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284E40"/>
                </a:solidFill>
              </a:defRPr>
            </a:pPr>
            <a:r>
              <a:rPr sz="4800" b="1" i="0">
                <a:solidFill>
                  <a:srgbClr val="284E40"/>
                </a:solidFill>
              </a:rPr>
              <a:t>$0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09BBB-4866-4F49-BA16-3DCDC5D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2B28"/>
                </a:solidFill>
              </a:defRPr>
            </a:pPr>
            <a:r>
              <a:rPr sz="1650" b="1" i="0">
                <a:solidFill>
                  <a:srgbClr val="252B28"/>
                </a:solidFill>
              </a:rPr>
              <a:t>marginal LLM/API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41229-85C7-4D4D-B9FD-404921F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7E15D-A974-485B-8EF5-0B76F87B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No model context window grows with production pages.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ED653-E2DD-4AF7-A3C4-1E7FA7CF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05F"/>
          </a:solidFill>
          <a:ln xmlns:a="http://schemas.openxmlformats.org/drawingml/2006/main" w="0">
            <a:solidFill>
              <a:srgbClr val="3F7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42D80-E63A-4611-9C1C-C0D3E11B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The same code handles each same-family page.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EC190-A53C-4B9C-BD6A-47841BCB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5162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8E6E9-1DEE-48D4-9CC6-F8E10B1F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4F43"/>
                </a:solidFill>
              </a:defRPr>
            </a:pPr>
            <a:r>
              <a:rPr sz="900" b="0" i="0">
                <a:solidFill>
                  <a:srgbClr val="A94F43"/>
                </a:solidFill>
              </a:rPr>
              <a:t>ID_05 COMPILATION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15796-8195-4609-A00B-5D17567B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94F43"/>
                </a:solidFill>
              </a:defRPr>
            </a:pPr>
            <a:r>
              <a:rPr sz="3600" b="1" i="0">
                <a:solidFill>
                  <a:srgbClr val="A94F43"/>
                </a:solidFill>
              </a:rPr>
              <a:t>3.40M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969AA-87CE-4D56-931F-2B4F335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52B28"/>
                </a:solidFill>
              </a:defRPr>
            </a:pPr>
            <a:r>
              <a:rPr sz="1425" b="1" i="0">
                <a:solidFill>
                  <a:srgbClr val="252B28"/>
                </a:solidFill>
              </a:rPr>
              <a:t>input + output 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DF314-1EF4-440D-8E0E-2D8F14F9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862"/>
                </a:solidFill>
              </a:defRPr>
            </a:pPr>
            <a:r>
              <a:rPr sz="1350" b="0" i="0">
                <a:solidFill>
                  <a:srgbClr val="5F6862"/>
                </a:solidFill>
              </a:rPr>
              <a:t>One-time code-generation workload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79F62-BFBF-4965-9483-4EAB9D29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52B28"/>
                </a:solidFill>
              </a:defRPr>
            </a:pPr>
            <a:r>
              <a:rPr sz="1350" b="0" i="0">
                <a:solidFill>
                  <a:srgbClr val="252B28"/>
                </a:solidFill>
              </a:rPr>
              <a:t>This expense is paid once for the document family, then amortized across every future extraction.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435C3-E800-4C70-9A85-A217B339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72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Local OCR, CPU, storage and hosting still consume resources.</a:t>
            </a:r>
          </a:p>
        </p:txBody>
      </p:sp>
    </p:spTree>
    <p:extLst>
      <p:ext uri="{BB962C8B-B14F-4D97-AF65-F5344CB8AC3E}">
        <p14:creationId xmlns:p14="http://schemas.microsoft.com/office/powerpoint/2010/main" val="20030421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eft-rail">
            <a:extLst xmlns:a="http://schemas.openxmlformats.org/drawingml/2006/main">
              <a:ext uri="{FF2B5EF4-FFF2-40B4-BE49-F238E27FC236}">
                <a16:creationId xmlns:a16="http://schemas.microsoft.com/office/drawing/2014/main" id="{177086B9-8BFA-4077-89B1-07DF28A1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40"/>
          </a:solidFill>
          <a:ln xmlns:a="http://schemas.openxmlformats.org/drawingml/2006/main" w="0">
            <a:solidFill>
              <a:srgbClr val="284E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6AB74-E7BB-4AC1-8AA0-25FC17E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2B28"/>
                </a:solidFill>
              </a:defRPr>
            </a:pPr>
            <a:r>
              <a:rPr sz="1800" b="1" i="0">
                <a:solidFill>
                  <a:srgbClr val="252B28"/>
                </a:solidFill>
              </a:rPr>
              <a:t>TWIX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7D8F8-4804-4849-964A-5CAEA45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B928C"/>
                </a:solidFill>
              </a:defRPr>
            </a:pPr>
            <a:r>
              <a:rPr sz="825" b="0" i="0">
                <a:solidFill>
                  <a:srgbClr val="8B928C"/>
                </a:solidFill>
              </a:rPr>
              <a:t>EXTRACTION 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CE63C-F834-4546-9677-160BE45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BF"/>
          </a:solidFill>
          <a:ln xmlns:a="http://schemas.openxmlformats.org/drawingml/2006/main" w="0">
            <a:solidFill>
              <a:srgbClr val="D9D0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C423F-3632-47A3-AE5A-3B4959E5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0B9FF-BB15-45FC-8C35-D7DEA9BE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1510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B928C"/>
                </a:solidFill>
              </a:defRPr>
            </a:pPr>
            <a:r>
              <a:rPr sz="750" b="0" i="0">
                <a:solidFill>
                  <a:srgbClr val="8B928C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3274B-FD21-4480-8482-80133AB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8B928C"/>
                </a:solidFill>
              </a:defRPr>
            </a:pPr>
            <a:r>
              <a:rPr sz="900" b="0" i="0">
                <a:solidFill>
                  <a:srgbClr val="8B928C"/>
                </a:solidFill>
              </a:rPr>
              <a:t>15 / WHAT THE RESULT SUPPORTS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C9F4A-8B64-4854-9BF5-044E16FF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52B28"/>
                </a:solidFill>
              </a:defRPr>
            </a:pPr>
            <a:r>
              <a:rPr sz="2850" b="1" i="0">
                <a:solidFill>
                  <a:srgbClr val="252B28"/>
                </a:solidFill>
              </a:rPr>
              <a:t>Use models to write the extractor - not every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C743E-3707-40A0-8788-53D68561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862"/>
                </a:solidFill>
              </a:defRPr>
            </a:pPr>
            <a:r>
              <a:rPr sz="1275" b="0" i="0">
                <a:solidFill>
                  <a:srgbClr val="5F6862"/>
                </a:solidFill>
              </a:rPr>
              <a:t>id_05 preserves record structure and approaches frontier-level content quality on an independent split.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5D415-859D-41DC-B503-4BCA061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6762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4"/>
          </a:solidFill>
          <a:ln xmlns:a="http://schemas.openxmlformats.org/drawingml/2006/main" w="0">
            <a:solidFill>
              <a:srgbClr val="2028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B922A-3066-454C-82AD-CD247D2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DB6AA"/>
                </a:solidFill>
              </a:defRPr>
            </a:pPr>
            <a:r>
              <a:rPr sz="900" b="0" i="0">
                <a:solidFill>
                  <a:srgbClr val="9DB6AA"/>
                </a:solidFill>
              </a:rPr>
              <a:t>ID_05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33E15-ACF0-4874-98AA-8BF81A5B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94CE4-31FD-44B8-B4B3-15A58312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training pages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2BC8E-9116-4E11-9CA2-1EB8813B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BB9FA-2769-4FBD-9483-21B1BBF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24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test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EA9EE-544B-4D17-A299-5C0591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77CA6-D865-4E0B-8C1F-CAF51BE6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matched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E396D-45E5-4377-A5F8-EB073F44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95.5%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C823E-CD98-4B05-9E94-AA1EAEB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EEE9"/>
                </a:solidFill>
              </a:defRPr>
            </a:pPr>
            <a:r>
              <a:rPr sz="1125" b="0" i="0">
                <a:solidFill>
                  <a:srgbClr val="E8EEE9"/>
                </a:solidFill>
              </a:rPr>
              <a:t>overall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97F0A-0F5A-46CF-9076-1B90557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34D"/>
          </a:solidFill>
          <a:ln xmlns:a="http://schemas.openxmlformats.org/drawingml/2006/main" w="0">
            <a:solidFill>
              <a:srgbClr val="46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F65B6-7576-43E5-A293-DD7757FA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622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9DB6AA"/>
                </a:solidFill>
              </a:defRPr>
            </a:pPr>
            <a:r>
              <a:rPr sz="2250" b="1" i="0">
                <a:solidFill>
                  <a:srgbClr val="9DB6AA"/>
                </a:solidFill>
              </a:rPr>
              <a:t>0 runtime model calls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39CC3-676D-4239-A98E-5CB36214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622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E8EEE9"/>
                </a:solidFill>
              </a:defRPr>
            </a:pPr>
            <a:r>
              <a:rPr sz="975" b="0" i="0">
                <a:solidFill>
                  <a:srgbClr val="E8EEE9"/>
                </a:solidFill>
              </a:rPr>
              <a:t>A reusable program replaces a repeated model call.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5962A-E8F4-4C2E-B2B2-95CB9676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94F43"/>
                </a:solidFill>
              </a:defRPr>
            </a:pPr>
            <a:r>
              <a:rPr sz="900" b="0" i="0">
                <a:solidFill>
                  <a:srgbClr val="A94F43"/>
                </a:solidFill>
              </a:rPr>
              <a:t>BOUNDARIES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857F6-FA97-4D1B-AA8B-2604836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2282C-01C6-488A-977D-10EC107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Family-specific, not a generic PDF extractor.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5C088-5286-41F5-974C-B0FBAD74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E9CC6-2EA9-4930-B766-2BB92201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Layout drift and OCR errors may require recompilation.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D43F4-775C-42BB-931A-BC84444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2B3AA-926E-4B6E-81EC-498B290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Ground truth is only as reliable as its reference process.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509143-9C04-43E9-8F68-F254699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3"/>
          </a:solidFill>
          <a:ln xmlns:a="http://schemas.openxmlformats.org/drawingml/2006/main" w="0">
            <a:solidFill>
              <a:srgbClr val="A94F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5599D-5B2F-4D0D-BFA3-2F32F41B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52B28"/>
                </a:solidFill>
              </a:defRPr>
            </a:pPr>
            <a:r>
              <a:rPr sz="1275" b="0" i="0">
                <a:solidFill>
                  <a:srgbClr val="252B28"/>
                </a:solidFill>
              </a:rPr>
              <a:t>Zero model cost still requires local compute.</a:t>
            </a:r>
          </a:p>
        </p:txBody>
      </p:sp>
    </p:spTree>
    <p:extLst>
      <p:ext uri="{BB962C8B-B14F-4D97-AF65-F5344CB8AC3E}">
        <p14:creationId xmlns:p14="http://schemas.microsoft.com/office/powerpoint/2010/main" val="523865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2026-09-01T19:33:30.6840000Z</dcterms:created>
  <dcterms:modified xsi:type="dcterms:W3CDTF">2026-09-01T19:33:30.6840000Z</dcterms:modified>
</coreProperties>
</file>